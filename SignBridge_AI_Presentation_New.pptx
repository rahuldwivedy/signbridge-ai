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5184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claude/icons/hand_as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659282"/>
            <a:ext cx="784555" cy="7845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8288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SignBridge AI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27889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Deep Learning ASL Recognition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3337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PGA 47  |  Track 2: Machine Learning &amp; Deep Learning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7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</a:t>
            </a:r>
            <a:r>
              <a:rPr lang="en-US" sz="1300" i="1" dirty="0">
                <a:solidFill>
                  <a:srgbClr val="7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Live Demo Report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Deaf and hard-of-hearing individuals communicate primarily in American Sign Language (ASL) — a complete, distinct language with its own grammar.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most everyday settings, workplaces, and public services lack real-time interpretation support — and human interpreters remain expensive or unavailable on demand.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6400800" cy="1737360"/>
          </a:xfrm>
          <a:prstGeom prst="roundRect">
            <a:avLst>
              <a:gd name="adj" fmla="val 5263"/>
            </a:avLst>
          </a:prstGeom>
          <a:solidFill>
            <a:srgbClr val="F2F7F6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369" y="4322369"/>
            <a:ext cx="499262" cy="4992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4206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45920" y="45720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in MediaPipe hand-landmark tracking and sequence-based deep learning now make lightweight, accessible sign-recognition tools genuinely feasible.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0" y="1371600"/>
            <a:ext cx="4297680" cy="4892040"/>
          </a:xfrm>
          <a:prstGeom prst="roundRect">
            <a:avLst>
              <a:gd name="adj" fmla="val 2553"/>
            </a:avLst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763524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7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this project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63524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5600" dirty="0"/>
          </a:p>
        </p:txBody>
      </p:sp>
      <p:sp>
        <p:nvSpPr>
          <p:cNvPr id="13" name="Text 10"/>
          <p:cNvSpPr/>
          <p:nvPr/>
        </p:nvSpPr>
        <p:spPr>
          <a:xfrm>
            <a:off x="7635240" y="2880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alphabet letters (fingerspelling)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635240" y="3520440"/>
            <a:ext cx="3657600" cy="0"/>
          </a:xfrm>
          <a:prstGeom prst="line">
            <a:avLst/>
          </a:prstGeom>
          <a:noFill/>
          <a:ln w="12700">
            <a:solidFill>
              <a:srgbClr val="3FA6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3524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25–30</a:t>
            </a:r>
            <a:endParaRPr lang="en-US" sz="5600" dirty="0"/>
          </a:p>
        </p:txBody>
      </p:sp>
      <p:sp>
        <p:nvSpPr>
          <p:cNvPr id="16" name="Text 13"/>
          <p:cNvSpPr/>
          <p:nvPr/>
        </p:nvSpPr>
        <p:spPr>
          <a:xfrm>
            <a:off x="7635240" y="45262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word-level signs (video, stretch goal)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635240" y="51663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B8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Full-sentence translation with facial grammar is explicitly out of scope.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F2F7F6"/>
          </a:solidFill>
          <a:ln/>
          <a:effectLst>
            <a:outerShdw blurRad="762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9164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/home/claude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18" y="1767078"/>
            <a:ext cx="534924" cy="5349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69164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 MNIST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737360" y="212140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datamunge/sign-language-mnist (Kaggle)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grayscale hand-gesture CSV dataset covering 24 static ASL alphabet letters (J and Z excluded — they require motion).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46520" y="137160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F2F7F6"/>
          </a:solidFill>
          <a:ln/>
          <a:effectLst>
            <a:outerShdw blurRad="762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66560" y="169164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icons/cam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998" y="1767078"/>
            <a:ext cx="534924" cy="5349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169164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WLASL Processed Mirror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35240" y="212140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risangbaskoro/wlasl-processed (Kaggle)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766560" y="26974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Pre-processed video mirror of the Word-Level ASL dataset, filtered to 25–30 target word glosses for the stretch-goal model.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The Recognition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219456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2F7F6"/>
          </a:solidFill>
          <a:ln/>
        </p:spPr>
      </p:sp>
      <p:sp>
        <p:nvSpPr>
          <p:cNvPr id="4" name="Shape 2"/>
          <p:cNvSpPr/>
          <p:nvPr/>
        </p:nvSpPr>
        <p:spPr>
          <a:xfrm>
            <a:off x="1417320" y="25146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cons/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" y="261518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5661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063240" y="28346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3566160" y="219456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2F7F6"/>
          </a:solidFill>
          <a:ln/>
        </p:spPr>
      </p:sp>
      <p:sp>
        <p:nvSpPr>
          <p:cNvPr id="9" name="Shape 6"/>
          <p:cNvSpPr/>
          <p:nvPr/>
        </p:nvSpPr>
        <p:spPr>
          <a:xfrm>
            <a:off x="4297680" y="25146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/home/claude/icons/hand_pa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264" y="2615184"/>
            <a:ext cx="713232" cy="7132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0" y="35661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Landmarks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943600" y="28346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9"/>
          <p:cNvSpPr/>
          <p:nvPr/>
        </p:nvSpPr>
        <p:spPr>
          <a:xfrm>
            <a:off x="6446520" y="219456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028090"/>
          </a:solidFill>
          <a:ln/>
        </p:spPr>
      </p:sp>
      <p:sp>
        <p:nvSpPr>
          <p:cNvPr id="14" name="Shape 10"/>
          <p:cNvSpPr/>
          <p:nvPr/>
        </p:nvSpPr>
        <p:spPr>
          <a:xfrm>
            <a:off x="7178040" y="251460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2" descr="/home/claude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4" y="2615184"/>
            <a:ext cx="713232" cy="7132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37960" y="35661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823960" y="28346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Shape 13"/>
          <p:cNvSpPr/>
          <p:nvPr/>
        </p:nvSpPr>
        <p:spPr>
          <a:xfrm>
            <a:off x="9326880" y="219456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2F7F6"/>
          </a:solidFill>
          <a:ln/>
        </p:spPr>
      </p:sp>
      <p:sp>
        <p:nvSpPr>
          <p:cNvPr id="19" name="Shape 14"/>
          <p:cNvSpPr/>
          <p:nvPr/>
        </p:nvSpPr>
        <p:spPr>
          <a:xfrm>
            <a:off x="10058400" y="25146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/home/claude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8984" y="2615184"/>
            <a:ext cx="713232" cy="7132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418320" y="35661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Text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85800" y="4937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extracts 21 hand keypoints (x, y, z) per frame — a lightweight, camera- and lighting-invariant representation that feeds directly into the classifier.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85800" y="5623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 tracks: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85800" y="5989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Pixel CNN on Sign MNIST images     ② Landmark-based classifier on live webcam data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Approaches: Pixels vs. Landmarks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49240" cy="5074920"/>
          </a:xfrm>
          <a:prstGeom prst="roundRect">
            <a:avLst>
              <a:gd name="adj" fmla="val 2162"/>
            </a:avLst>
          </a:prstGeom>
          <a:solidFill>
            <a:srgbClr val="F2F7F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5349240" cy="640080"/>
          </a:xfrm>
          <a:prstGeom prst="roundRect">
            <a:avLst>
              <a:gd name="adj" fmla="val 17143"/>
            </a:avLst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34924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1: Pixel CNN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44144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grayscale image crop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49300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 MNIST (benchmark)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454456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 (dataset has known train/test leakage)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30352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RESULT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559612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Struggled on live webcam — crop distortion, lighting, camera domain gap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1325880"/>
            <a:ext cx="5349240" cy="5074920"/>
          </a:xfrm>
          <a:prstGeom prst="roundRect">
            <a:avLst>
              <a:gd name="adj" fmla="val 2162"/>
            </a:avLst>
          </a:prstGeom>
          <a:solidFill>
            <a:srgbClr val="F2F7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263640" y="1325880"/>
            <a:ext cx="5349240" cy="64008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1737360"/>
            <a:ext cx="5349240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32588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2: Landmark Classifier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37960" y="21488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37960" y="244144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hand keypoints (63-dim vector)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37960" y="32004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37960" y="349300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Self-collected webcam data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7960" y="425196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37960" y="454456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Wrist-relative + scale-invariant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37960" y="530352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RESULT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37960" y="559612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the exact conditions it's demoed in — closes the domain gap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Challenges We Solved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local demo surfaced real, non-trivial ML-engineering problems: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0F3A4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icons/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2077060"/>
            <a:ext cx="463601" cy="4636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conflicts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00200" y="239572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TensorFlow, MediaPipe, and OpenCV each required incompatible NumPy/protobuf versions — resolved by pinning a fully compatible version set.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73736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0F3A40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01168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6180" y="2077060"/>
            <a:ext cx="463601" cy="46360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 API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178040" y="239572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newer MediaPipe release silently dropped the legacy Hands API — fixed by pinning to a known-stable release.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0F3A40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29768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/home/claude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340" y="4363060"/>
            <a:ext cx="463601" cy="46360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97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leakage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600200" y="468172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MNIST's perfect test-set F1 score reflects known image leakage, not real-world accuracy — flagged honestly rather than overclaimed.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402336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0F3A40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429768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/home/claude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6180" y="4363060"/>
            <a:ext cx="463601" cy="46360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297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gap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178040" y="468172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trained on clean benchmark images underperformed on live webcam frames — motivated the shift to a landmark-based model.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Progress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2F7F6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54533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1595628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417320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(Sign MNIST + WLASL)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9144000" y="1554480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0" y="155448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267712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2F7F6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39572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2446020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267712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trained on static alphabet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9144000" y="2404872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4" name="Text 10"/>
          <p:cNvSpPr/>
          <p:nvPr/>
        </p:nvSpPr>
        <p:spPr>
          <a:xfrm>
            <a:off x="9144000" y="240487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118104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2F7F6"/>
          </a:solidFill>
          <a:ln/>
        </p:spPr>
      </p:sp>
      <p:sp>
        <p:nvSpPr>
          <p:cNvPr id="16" name="Shape 12"/>
          <p:cNvSpPr/>
          <p:nvPr/>
        </p:nvSpPr>
        <p:spPr>
          <a:xfrm>
            <a:off x="713232" y="32461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2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329641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118104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hand-tracking integrated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9144000" y="3255264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0" name="Text 15"/>
          <p:cNvSpPr/>
          <p:nvPr/>
        </p:nvSpPr>
        <p:spPr>
          <a:xfrm>
            <a:off x="9144000" y="3255264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3968496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2F7F6"/>
          </a:solidFill>
          <a:ln/>
        </p:spPr>
      </p:sp>
      <p:sp>
        <p:nvSpPr>
          <p:cNvPr id="22" name="Shape 17"/>
          <p:cNvSpPr/>
          <p:nvPr/>
        </p:nvSpPr>
        <p:spPr>
          <a:xfrm>
            <a:off x="713232" y="409651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3" name="Image 3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4146804"/>
            <a:ext cx="356616" cy="35661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71600" y="3968496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webcam demo running</a:t>
            </a:r>
            <a:endParaRPr lang="en-US" sz="1450" dirty="0"/>
          </a:p>
        </p:txBody>
      </p:sp>
      <p:sp>
        <p:nvSpPr>
          <p:cNvPr id="25" name="Shape 19"/>
          <p:cNvSpPr/>
          <p:nvPr/>
        </p:nvSpPr>
        <p:spPr>
          <a:xfrm>
            <a:off x="9144000" y="4105656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6" name="Text 20"/>
          <p:cNvSpPr/>
          <p:nvPr/>
        </p:nvSpPr>
        <p:spPr>
          <a:xfrm>
            <a:off x="9144000" y="4105656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481888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2F7F6"/>
          </a:solidFill>
          <a:ln/>
        </p:spPr>
      </p:sp>
      <p:sp>
        <p:nvSpPr>
          <p:cNvPr id="28" name="Shape 22"/>
          <p:cNvSpPr/>
          <p:nvPr/>
        </p:nvSpPr>
        <p:spPr>
          <a:xfrm>
            <a:off x="713232" y="4946904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9" name="Image 4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4997196"/>
            <a:ext cx="356616" cy="35661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71600" y="4818888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Landmark-based classifier (real-world accuracy)</a:t>
            </a:r>
            <a:endParaRPr lang="en-US" sz="1450" dirty="0"/>
          </a:p>
        </p:txBody>
      </p:sp>
      <p:sp>
        <p:nvSpPr>
          <p:cNvPr id="31" name="Shape 24"/>
          <p:cNvSpPr/>
          <p:nvPr/>
        </p:nvSpPr>
        <p:spPr>
          <a:xfrm>
            <a:off x="9144000" y="4956048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2" name="Text 25"/>
          <p:cNvSpPr/>
          <p:nvPr/>
        </p:nvSpPr>
        <p:spPr>
          <a:xfrm>
            <a:off x="9144000" y="495604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548640" y="566928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2F7F6"/>
          </a:solidFill>
          <a:ln/>
        </p:spPr>
      </p:sp>
      <p:sp>
        <p:nvSpPr>
          <p:cNvPr id="34" name="Shape 27"/>
          <p:cNvSpPr/>
          <p:nvPr/>
        </p:nvSpPr>
        <p:spPr>
          <a:xfrm>
            <a:off x="713232" y="5797296"/>
            <a:ext cx="457200" cy="457200"/>
          </a:xfrm>
          <a:prstGeom prst="ellipse">
            <a:avLst/>
          </a:prstGeom>
          <a:solidFill>
            <a:srgbClr val="5A716E"/>
          </a:solidFill>
          <a:ln/>
        </p:spPr>
      </p:sp>
      <p:pic>
        <p:nvPicPr>
          <p:cNvPr id="35" name="Image 5" descr="/home/claude/icons/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5847588"/>
            <a:ext cx="356616" cy="35661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371600" y="5669280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Word-level LSTM (stretch goal)</a:t>
            </a:r>
            <a:endParaRPr lang="en-US" sz="1450" dirty="0"/>
          </a:p>
        </p:txBody>
      </p:sp>
      <p:sp>
        <p:nvSpPr>
          <p:cNvPr id="37" name="Shape 29"/>
          <p:cNvSpPr/>
          <p:nvPr/>
        </p:nvSpPr>
        <p:spPr>
          <a:xfrm>
            <a:off x="9144000" y="5806440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5A716E"/>
          </a:solidFill>
          <a:ln/>
        </p:spPr>
      </p:sp>
      <p:sp>
        <p:nvSpPr>
          <p:cNvPr id="38" name="Text 30"/>
          <p:cNvSpPr/>
          <p:nvPr/>
        </p:nvSpPr>
        <p:spPr>
          <a:xfrm>
            <a:off x="9144000" y="580644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11880" cy="2743200"/>
          </a:xfrm>
          <a:prstGeom prst="roundRect">
            <a:avLst>
              <a:gd name="adj" fmla="val 4000"/>
            </a:avLst>
          </a:prstGeom>
          <a:solidFill>
            <a:srgbClr val="F2F7F6"/>
          </a:solidFill>
          <a:ln/>
        </p:spPr>
      </p:sp>
      <p:sp>
        <p:nvSpPr>
          <p:cNvPr id="4" name="Shape 2"/>
          <p:cNvSpPr/>
          <p:nvPr/>
        </p:nvSpPr>
        <p:spPr>
          <a:xfrm>
            <a:off x="1943100" y="17830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626" y="1873606"/>
            <a:ext cx="641909" cy="6419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7889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classifiers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3375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for the static alphabet and a landmark-based model tuned for real webcam conditions.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43400" y="1463040"/>
            <a:ext cx="3611880" cy="2743200"/>
          </a:xfrm>
          <a:prstGeom prst="roundRect">
            <a:avLst>
              <a:gd name="adj" fmla="val 4000"/>
            </a:avLst>
          </a:prstGeom>
          <a:solidFill>
            <a:srgbClr val="F2F7F6"/>
          </a:solidFill>
          <a:ln/>
        </p:spPr>
      </p:sp>
      <p:sp>
        <p:nvSpPr>
          <p:cNvPr id="9" name="Shape 6"/>
          <p:cNvSpPr/>
          <p:nvPr/>
        </p:nvSpPr>
        <p:spPr>
          <a:xfrm>
            <a:off x="5737860" y="17830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/home/claude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8386" y="1873606"/>
            <a:ext cx="641909" cy="64190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27889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comparison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17720" y="33375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(Random Forest/SVM on landmarks) vs. deep sequence models — with honest, documented limitations.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38160" y="1463040"/>
            <a:ext cx="3611880" cy="2743200"/>
          </a:xfrm>
          <a:prstGeom prst="roundRect">
            <a:avLst>
              <a:gd name="adj" fmla="val 4000"/>
            </a:avLst>
          </a:prstGeom>
          <a:solidFill>
            <a:srgbClr val="F2F7F6"/>
          </a:solidFill>
          <a:ln/>
        </p:spPr>
      </p:sp>
      <p:sp>
        <p:nvSpPr>
          <p:cNvPr id="14" name="Shape 10"/>
          <p:cNvSpPr/>
          <p:nvPr/>
        </p:nvSpPr>
        <p:spPr>
          <a:xfrm>
            <a:off x="9532620" y="17830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/home/claude/icons/came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3146" y="1873606"/>
            <a:ext cx="641909" cy="64190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27889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interactive demo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412480" y="33375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deployed Streamlit app with webcam sign recognition, landmark overlay, and real-time text output.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/home/claude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61" y="1472641"/>
            <a:ext cx="392278" cy="3922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3898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leakage in Sign MNIST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34440" y="178308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train/test image overlap inflates benchmark scores — real accuracy is measured on live webcam data instead, not the leaked test split.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62432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/home/claude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61" y="2679649"/>
            <a:ext cx="392278" cy="39227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59689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 &amp; lighting variation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234440" y="29900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 via MediaPipe's normalized landmark coordinates, which are invariant to skin tone, background, and lighting.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83133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2" descr="/home/claude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61" y="3886657"/>
            <a:ext cx="392278" cy="39227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80390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latency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234440" y="4197096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lightweight 63-value coordinate arrays instead of raw pixels keeps inference fast enough for live use.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503834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3" descr="/home/claude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61" y="5093665"/>
            <a:ext cx="392278" cy="39227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50109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Static-only scope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234440" y="5404104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and Z require motion and are out of scope for the alphabet model; word-level motion is handled separately (stretch goal).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Issues: Confusable Letters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/home/claude/icons/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961" y="1472641"/>
            <a:ext cx="392278" cy="3922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3898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Fist-shape letter cluster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34440" y="178308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E, M, N, S, and T are all closed-fist shapes in ASL, differing mainly by subtle thumb placement — a genuinely hard cluster for any classifier to separate.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62432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/home/claude/icons/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961" y="2679649"/>
            <a:ext cx="392278" cy="39227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59689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live confusions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234440" y="29900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is sometimes detected as M; S is sometimes detected as E or M — the model occasionally mistakes one closed-fist letter for another within this cluster.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83133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2" descr="/home/claude/icons/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961" y="3886657"/>
            <a:ext cx="392278" cy="39227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80390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234440" y="4197096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F1 is a perfect 1.00 — this is a live-generalization gap, not a training data gap, likely tied to thumb-position noise in monocular webcam depth tracking.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503834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3" descr="/home/claude/icons/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961" y="5093665"/>
            <a:ext cx="392278" cy="39227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50109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for today's demo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234440" y="5404104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six letters are excluded from today's live demo. The other 18 — B, C, D, F, G, H, I, K, L, O, P, Q, R, U, V, W, X, Y — recognize reliably in real time.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claude/icons/hand_as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6" y="730606"/>
            <a:ext cx="641909" cy="641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737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26517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7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SignBridge AI combines strong technical depth — CNN, MediaPipe landmarks, and a real-time classifier pipeline — with genuine engineering rigor: honest benchmarking, documented limitations, and a working live demo, not just a benchmark score.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457200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0F3A40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51206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webcam landmark data  →  train &amp; validate classifier  →  polish demo UI  →  final presentation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903</Words>
  <Application>Microsoft Office PowerPoint</Application>
  <PresentationFormat>Widescreen</PresentationFormat>
  <Paragraphs>118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RANJAN KUMAR DWIVEDY</cp:lastModifiedBy>
  <cp:revision>3</cp:revision>
  <dcterms:created xsi:type="dcterms:W3CDTF">2026-08-23T20:31:44Z</dcterms:created>
  <dcterms:modified xsi:type="dcterms:W3CDTF">2026-09-08T18:49:38Z</dcterms:modified>
</cp:coreProperties>
</file>